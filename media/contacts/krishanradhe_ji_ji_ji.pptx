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867" y="-41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68500" y="797368"/>
            <a:ext cx="4834255" cy="572770"/>
          </a:xfrm>
          <a:prstGeom prst="rect">
            <a:avLst/>
          </a:prstGeom>
        </p:spPr>
        <p:txBody>
          <a:bodyPr vert="horz" wrap="square" lIns="0" tIns="12065" rIns="0" bIns="0" rtlCol="0">
            <a:spAutoFit/>
          </a:bodyPr>
          <a:lstStyle/>
          <a:p>
            <a:pPr algn="ctr">
              <a:lnSpc>
                <a:spcPct val="100000"/>
              </a:lnSpc>
              <a:spcBef>
                <a:spcPts val="95"/>
              </a:spcBef>
            </a:pPr>
            <a:r>
              <a:rPr lang="en-US" sz="1600" b="1" dirty="0">
                <a:solidFill>
                  <a:srgbClr val="17365D"/>
                </a:solidFill>
                <a:latin typeface="Times New Roman"/>
                <a:cs typeface="Times New Roman"/>
              </a:rPr>
              <a:t>Ai Resume Builder </a:t>
            </a:r>
            <a:endParaRPr sz="1600" dirty="0">
              <a:latin typeface="Times New Roman"/>
              <a:cs typeface="Times New Roman"/>
            </a:endParaRPr>
          </a:p>
          <a:p>
            <a:pPr marL="3810" algn="ctr">
              <a:lnSpc>
                <a:spcPct val="100000"/>
              </a:lnSpc>
              <a:spcBef>
                <a:spcPts val="950"/>
              </a:spcBef>
            </a:pPr>
            <a:r>
              <a:rPr sz="1200" b="1" dirty="0">
                <a:solidFill>
                  <a:srgbClr val="622322"/>
                </a:solidFill>
                <a:latin typeface="Times New Roman"/>
                <a:cs typeface="Times New Roman"/>
              </a:rPr>
              <a:t>A</a:t>
            </a:r>
            <a:r>
              <a:rPr sz="1200" b="1" spc="-35" dirty="0">
                <a:solidFill>
                  <a:srgbClr val="622322"/>
                </a:solidFill>
                <a:latin typeface="Times New Roman"/>
                <a:cs typeface="Times New Roman"/>
              </a:rPr>
              <a:t> </a:t>
            </a:r>
            <a:r>
              <a:rPr sz="1200" b="1" dirty="0">
                <a:solidFill>
                  <a:srgbClr val="622322"/>
                </a:solidFill>
                <a:latin typeface="Times New Roman"/>
                <a:cs typeface="Times New Roman"/>
              </a:rPr>
              <a:t>Project</a:t>
            </a:r>
            <a:r>
              <a:rPr sz="1200" b="1" spc="-30" dirty="0">
                <a:solidFill>
                  <a:srgbClr val="622322"/>
                </a:solidFill>
                <a:latin typeface="Times New Roman"/>
                <a:cs typeface="Times New Roman"/>
              </a:rPr>
              <a:t> </a:t>
            </a:r>
            <a:r>
              <a:rPr sz="1200" b="1" dirty="0">
                <a:solidFill>
                  <a:srgbClr val="622322"/>
                </a:solidFill>
                <a:latin typeface="Times New Roman"/>
                <a:cs typeface="Times New Roman"/>
              </a:rPr>
              <a:t>Synopsis</a:t>
            </a:r>
            <a:r>
              <a:rPr sz="1200" b="1" spc="-30" dirty="0">
                <a:solidFill>
                  <a:srgbClr val="622322"/>
                </a:solidFill>
                <a:latin typeface="Times New Roman"/>
                <a:cs typeface="Times New Roman"/>
              </a:rPr>
              <a:t> </a:t>
            </a:r>
            <a:r>
              <a:rPr sz="1200" b="1" dirty="0">
                <a:solidFill>
                  <a:srgbClr val="622322"/>
                </a:solidFill>
                <a:latin typeface="Times New Roman"/>
                <a:cs typeface="Times New Roman"/>
              </a:rPr>
              <a:t>Submitted</a:t>
            </a:r>
            <a:r>
              <a:rPr sz="1200" b="1" spc="-30" dirty="0">
                <a:solidFill>
                  <a:srgbClr val="622322"/>
                </a:solidFill>
                <a:latin typeface="Times New Roman"/>
                <a:cs typeface="Times New Roman"/>
              </a:rPr>
              <a:t> </a:t>
            </a:r>
            <a:r>
              <a:rPr sz="1200" b="1" spc="-25" dirty="0">
                <a:solidFill>
                  <a:srgbClr val="622322"/>
                </a:solidFill>
                <a:latin typeface="Times New Roman"/>
                <a:cs typeface="Times New Roman"/>
              </a:rPr>
              <a:t>To</a:t>
            </a:r>
            <a:endParaRPr sz="1200" dirty="0">
              <a:latin typeface="Times New Roman"/>
              <a:cs typeface="Times New Roman"/>
            </a:endParaRPr>
          </a:p>
        </p:txBody>
      </p:sp>
      <p:sp>
        <p:nvSpPr>
          <p:cNvPr id="3" name="object 3"/>
          <p:cNvSpPr txBox="1"/>
          <p:nvPr/>
        </p:nvSpPr>
        <p:spPr>
          <a:xfrm>
            <a:off x="2566542" y="2785618"/>
            <a:ext cx="2639060" cy="3251146"/>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622322"/>
                </a:solidFill>
                <a:latin typeface="Times New Roman"/>
                <a:cs typeface="Times New Roman"/>
              </a:rPr>
              <a:t>SANGAM</a:t>
            </a:r>
            <a:r>
              <a:rPr sz="1200" b="1" spc="-20" dirty="0">
                <a:solidFill>
                  <a:srgbClr val="622322"/>
                </a:solidFill>
                <a:latin typeface="Times New Roman"/>
                <a:cs typeface="Times New Roman"/>
              </a:rPr>
              <a:t> </a:t>
            </a:r>
            <a:r>
              <a:rPr sz="1200" b="1" dirty="0">
                <a:solidFill>
                  <a:srgbClr val="622322"/>
                </a:solidFill>
                <a:latin typeface="Times New Roman"/>
                <a:cs typeface="Times New Roman"/>
              </a:rPr>
              <a:t>UNIVERSITY,</a:t>
            </a:r>
            <a:r>
              <a:rPr sz="1200" b="1" spc="-20" dirty="0">
                <a:solidFill>
                  <a:srgbClr val="622322"/>
                </a:solidFill>
                <a:latin typeface="Times New Roman"/>
                <a:cs typeface="Times New Roman"/>
              </a:rPr>
              <a:t> </a:t>
            </a:r>
            <a:r>
              <a:rPr sz="1200" b="1" spc="-10" dirty="0">
                <a:solidFill>
                  <a:srgbClr val="622322"/>
                </a:solidFill>
                <a:latin typeface="Times New Roman"/>
                <a:cs typeface="Times New Roman"/>
              </a:rPr>
              <a:t>BHILWARA</a:t>
            </a:r>
            <a:endParaRPr sz="1200" dirty="0">
              <a:latin typeface="Times New Roman"/>
              <a:cs typeface="Times New Roman"/>
            </a:endParaRPr>
          </a:p>
          <a:p>
            <a:pPr marL="520065" marR="511175" algn="ctr">
              <a:lnSpc>
                <a:spcPct val="165000"/>
              </a:lnSpc>
              <a:spcBef>
                <a:spcPts val="15"/>
              </a:spcBef>
            </a:pPr>
            <a:r>
              <a:rPr sz="1200" b="1" dirty="0">
                <a:solidFill>
                  <a:srgbClr val="17365D"/>
                </a:solidFill>
                <a:latin typeface="Times New Roman"/>
                <a:cs typeface="Times New Roman"/>
              </a:rPr>
              <a:t>Bachelors</a:t>
            </a:r>
            <a:r>
              <a:rPr sz="1200" b="1" spc="-30" dirty="0">
                <a:solidFill>
                  <a:srgbClr val="17365D"/>
                </a:solidFill>
                <a:latin typeface="Times New Roman"/>
                <a:cs typeface="Times New Roman"/>
              </a:rPr>
              <a:t> </a:t>
            </a:r>
            <a:r>
              <a:rPr sz="1200" b="1" dirty="0">
                <a:solidFill>
                  <a:srgbClr val="17365D"/>
                </a:solidFill>
                <a:latin typeface="Times New Roman"/>
                <a:cs typeface="Times New Roman"/>
              </a:rPr>
              <a:t>of</a:t>
            </a:r>
            <a:r>
              <a:rPr sz="1200" b="1" spc="-25" dirty="0">
                <a:solidFill>
                  <a:srgbClr val="17365D"/>
                </a:solidFill>
                <a:latin typeface="Times New Roman"/>
                <a:cs typeface="Times New Roman"/>
              </a:rPr>
              <a:t> </a:t>
            </a:r>
            <a:r>
              <a:rPr sz="1200" b="1" spc="-10" dirty="0">
                <a:solidFill>
                  <a:srgbClr val="17365D"/>
                </a:solidFill>
                <a:latin typeface="Times New Roman"/>
                <a:cs typeface="Times New Roman"/>
              </a:rPr>
              <a:t>Technology </a:t>
            </a:r>
            <a:r>
              <a:rPr sz="1200" b="1" dirty="0">
                <a:solidFill>
                  <a:srgbClr val="622322"/>
                </a:solidFill>
                <a:latin typeface="Times New Roman"/>
                <a:cs typeface="Times New Roman"/>
              </a:rPr>
              <a:t>Submitted</a:t>
            </a:r>
            <a:r>
              <a:rPr sz="1200" b="1" spc="-60" dirty="0">
                <a:solidFill>
                  <a:srgbClr val="622322"/>
                </a:solidFill>
                <a:latin typeface="Times New Roman"/>
                <a:cs typeface="Times New Roman"/>
              </a:rPr>
              <a:t> </a:t>
            </a:r>
            <a:r>
              <a:rPr sz="1200" b="1" spc="-25" dirty="0">
                <a:solidFill>
                  <a:srgbClr val="622322"/>
                </a:solidFill>
                <a:latin typeface="Times New Roman"/>
                <a:cs typeface="Times New Roman"/>
              </a:rPr>
              <a:t>By</a:t>
            </a:r>
            <a:endParaRPr sz="1200" dirty="0">
              <a:latin typeface="Times New Roman"/>
              <a:cs typeface="Times New Roman"/>
            </a:endParaRPr>
          </a:p>
          <a:p>
            <a:pPr marL="2540" algn="ctr">
              <a:lnSpc>
                <a:spcPct val="100000"/>
              </a:lnSpc>
              <a:spcBef>
                <a:spcPts val="935"/>
              </a:spcBef>
            </a:pPr>
            <a:r>
              <a:rPr lang="en-IN" sz="1200" b="1" dirty="0">
                <a:solidFill>
                  <a:srgbClr val="17365D"/>
                </a:solidFill>
                <a:latin typeface="Times New Roman"/>
                <a:cs typeface="Times New Roman"/>
              </a:rPr>
              <a:t>Praveen Gupta</a:t>
            </a:r>
            <a:endParaRPr lang="en-IN" sz="1200" dirty="0">
              <a:latin typeface="Times New Roman"/>
              <a:cs typeface="Times New Roman"/>
            </a:endParaRPr>
          </a:p>
          <a:p>
            <a:pPr algn="ctr">
              <a:lnSpc>
                <a:spcPct val="100000"/>
              </a:lnSpc>
              <a:spcBef>
                <a:spcPts val="905"/>
              </a:spcBef>
            </a:pPr>
            <a:r>
              <a:rPr sz="1400" spc="-10" dirty="0">
                <a:solidFill>
                  <a:srgbClr val="17365D"/>
                </a:solidFill>
                <a:latin typeface="Times New Roman"/>
                <a:cs typeface="Times New Roman"/>
              </a:rPr>
              <a:t>(</a:t>
            </a:r>
            <a:r>
              <a:rPr lang="en-IN" sz="1200" spc="-10" dirty="0">
                <a:solidFill>
                  <a:srgbClr val="17365D"/>
                </a:solidFill>
                <a:latin typeface="Times New Roman"/>
                <a:cs typeface="Times New Roman"/>
              </a:rPr>
              <a:t>2023SUBTCS050</a:t>
            </a:r>
            <a:r>
              <a:rPr sz="1200" spc="-10" dirty="0">
                <a:solidFill>
                  <a:srgbClr val="17365D"/>
                </a:solidFill>
                <a:latin typeface="Times New Roman"/>
                <a:cs typeface="Times New Roman"/>
              </a:rPr>
              <a:t>)</a:t>
            </a:r>
            <a:endParaRPr lang="en-US" sz="1200" spc="-10" dirty="0">
              <a:solidFill>
                <a:srgbClr val="17365D"/>
              </a:solidFill>
              <a:latin typeface="Times New Roman"/>
              <a:cs typeface="Times New Roman"/>
            </a:endParaRPr>
          </a:p>
          <a:p>
            <a:pPr algn="ctr">
              <a:lnSpc>
                <a:spcPct val="100000"/>
              </a:lnSpc>
              <a:spcBef>
                <a:spcPts val="905"/>
              </a:spcBef>
            </a:pPr>
            <a:r>
              <a:rPr lang="en-IN" sz="1200" spc="-10" dirty="0">
                <a:solidFill>
                  <a:srgbClr val="17365D"/>
                </a:solidFill>
                <a:latin typeface="Times New Roman"/>
                <a:cs typeface="Times New Roman"/>
              </a:rPr>
              <a:t>Anurag G Tiwari</a:t>
            </a:r>
          </a:p>
          <a:p>
            <a:pPr algn="ctr">
              <a:lnSpc>
                <a:spcPct val="100000"/>
              </a:lnSpc>
              <a:spcBef>
                <a:spcPts val="905"/>
              </a:spcBef>
            </a:pPr>
            <a:r>
              <a:rPr lang="en-IN" sz="1200" spc="-10" dirty="0">
                <a:solidFill>
                  <a:srgbClr val="17365D"/>
                </a:solidFill>
                <a:latin typeface="Times New Roman"/>
                <a:cs typeface="Times New Roman"/>
              </a:rPr>
              <a:t>(202431900295)</a:t>
            </a:r>
          </a:p>
          <a:p>
            <a:pPr algn="ctr">
              <a:lnSpc>
                <a:spcPct val="100000"/>
              </a:lnSpc>
              <a:spcBef>
                <a:spcPts val="905"/>
              </a:spcBef>
            </a:pPr>
            <a:endParaRPr lang="en-IN" sz="1200" spc="-10" dirty="0">
              <a:solidFill>
                <a:srgbClr val="17365D"/>
              </a:solidFill>
              <a:latin typeface="Times New Roman"/>
              <a:cs typeface="Times New Roman"/>
            </a:endParaRPr>
          </a:p>
          <a:p>
            <a:pPr algn="ctr">
              <a:lnSpc>
                <a:spcPct val="100000"/>
              </a:lnSpc>
              <a:spcBef>
                <a:spcPts val="905"/>
              </a:spcBef>
            </a:pPr>
            <a:endParaRPr sz="1200" dirty="0">
              <a:latin typeface="Times New Roman"/>
              <a:cs typeface="Times New Roman"/>
            </a:endParaRPr>
          </a:p>
          <a:p>
            <a:pPr algn="ctr">
              <a:lnSpc>
                <a:spcPct val="100000"/>
              </a:lnSpc>
              <a:spcBef>
                <a:spcPts val="940"/>
              </a:spcBef>
            </a:pPr>
            <a:r>
              <a:rPr sz="1200" dirty="0">
                <a:solidFill>
                  <a:srgbClr val="622322"/>
                </a:solidFill>
                <a:latin typeface="Times New Roman"/>
                <a:cs typeface="Times New Roman"/>
              </a:rPr>
              <a:t>Under</a:t>
            </a:r>
            <a:r>
              <a:rPr sz="1200" spc="-40" dirty="0">
                <a:solidFill>
                  <a:srgbClr val="622322"/>
                </a:solidFill>
                <a:latin typeface="Times New Roman"/>
                <a:cs typeface="Times New Roman"/>
              </a:rPr>
              <a:t> </a:t>
            </a:r>
            <a:r>
              <a:rPr sz="1200" dirty="0">
                <a:solidFill>
                  <a:srgbClr val="622322"/>
                </a:solidFill>
                <a:latin typeface="Times New Roman"/>
                <a:cs typeface="Times New Roman"/>
              </a:rPr>
              <a:t>the</a:t>
            </a:r>
            <a:r>
              <a:rPr sz="1200" spc="-45" dirty="0">
                <a:solidFill>
                  <a:srgbClr val="622322"/>
                </a:solidFill>
                <a:latin typeface="Times New Roman"/>
                <a:cs typeface="Times New Roman"/>
              </a:rPr>
              <a:t> </a:t>
            </a:r>
            <a:r>
              <a:rPr sz="1200" dirty="0">
                <a:solidFill>
                  <a:srgbClr val="622322"/>
                </a:solidFill>
                <a:latin typeface="Times New Roman"/>
                <a:cs typeface="Times New Roman"/>
              </a:rPr>
              <a:t>Supervision</a:t>
            </a:r>
            <a:r>
              <a:rPr sz="1200" spc="-40" dirty="0">
                <a:solidFill>
                  <a:srgbClr val="622322"/>
                </a:solidFill>
                <a:latin typeface="Times New Roman"/>
                <a:cs typeface="Times New Roman"/>
              </a:rPr>
              <a:t> </a:t>
            </a:r>
            <a:r>
              <a:rPr sz="1200" spc="-25" dirty="0">
                <a:solidFill>
                  <a:srgbClr val="622322"/>
                </a:solidFill>
                <a:latin typeface="Times New Roman"/>
                <a:cs typeface="Times New Roman"/>
              </a:rPr>
              <a:t>of</a:t>
            </a:r>
            <a:endParaRPr sz="1200" dirty="0">
              <a:latin typeface="Times New Roman"/>
              <a:cs typeface="Times New Roman"/>
            </a:endParaRPr>
          </a:p>
          <a:p>
            <a:pPr algn="ctr">
              <a:lnSpc>
                <a:spcPct val="100000"/>
              </a:lnSpc>
              <a:spcBef>
                <a:spcPts val="960"/>
              </a:spcBef>
            </a:pPr>
            <a:r>
              <a:rPr sz="1200" b="1" dirty="0">
                <a:solidFill>
                  <a:srgbClr val="17365D"/>
                </a:solidFill>
                <a:latin typeface="Times New Roman"/>
                <a:cs typeface="Times New Roman"/>
              </a:rPr>
              <a:t>Dr.</a:t>
            </a:r>
            <a:r>
              <a:rPr sz="1200" b="1" spc="-15" dirty="0">
                <a:solidFill>
                  <a:srgbClr val="17365D"/>
                </a:solidFill>
                <a:latin typeface="Times New Roman"/>
                <a:cs typeface="Times New Roman"/>
              </a:rPr>
              <a:t> </a:t>
            </a:r>
            <a:r>
              <a:rPr sz="1200" b="1" dirty="0">
                <a:solidFill>
                  <a:srgbClr val="17365D"/>
                </a:solidFill>
                <a:latin typeface="Times New Roman"/>
                <a:cs typeface="Times New Roman"/>
              </a:rPr>
              <a:t>Awanit</a:t>
            </a:r>
            <a:r>
              <a:rPr sz="1200" b="1" spc="-15" dirty="0">
                <a:solidFill>
                  <a:srgbClr val="17365D"/>
                </a:solidFill>
                <a:latin typeface="Times New Roman"/>
                <a:cs typeface="Times New Roman"/>
              </a:rPr>
              <a:t> </a:t>
            </a:r>
            <a:r>
              <a:rPr sz="1200" b="1" spc="-20" dirty="0">
                <a:solidFill>
                  <a:srgbClr val="17365D"/>
                </a:solidFill>
                <a:latin typeface="Times New Roman"/>
                <a:cs typeface="Times New Roman"/>
              </a:rPr>
              <a:t>Kumar</a:t>
            </a:r>
            <a:endParaRPr sz="1200" dirty="0">
              <a:latin typeface="Times New Roman"/>
              <a:cs typeface="Times New Roman"/>
            </a:endParaRPr>
          </a:p>
        </p:txBody>
      </p:sp>
      <p:sp>
        <p:nvSpPr>
          <p:cNvPr id="4" name="object 4"/>
          <p:cNvSpPr txBox="1"/>
          <p:nvPr/>
        </p:nvSpPr>
        <p:spPr>
          <a:xfrm>
            <a:off x="1676145" y="6617589"/>
            <a:ext cx="5196840" cy="2074927"/>
          </a:xfrm>
          <a:prstGeom prst="rect">
            <a:avLst/>
          </a:prstGeom>
        </p:spPr>
        <p:txBody>
          <a:bodyPr vert="horz" wrap="square" lIns="0" tIns="12700" rIns="0" bIns="0" rtlCol="0">
            <a:spAutoFit/>
          </a:bodyPr>
          <a:lstStyle/>
          <a:p>
            <a:pPr marR="769620" algn="ctr">
              <a:lnSpc>
                <a:spcPct val="100000"/>
              </a:lnSpc>
              <a:spcBef>
                <a:spcPts val="100"/>
              </a:spcBef>
            </a:pPr>
            <a:r>
              <a:rPr sz="1200" b="1" dirty="0">
                <a:solidFill>
                  <a:srgbClr val="622322"/>
                </a:solidFill>
                <a:latin typeface="Times New Roman"/>
                <a:cs typeface="Times New Roman"/>
              </a:rPr>
              <a:t>Department</a:t>
            </a:r>
            <a:r>
              <a:rPr sz="1200" b="1" spc="-30" dirty="0">
                <a:solidFill>
                  <a:srgbClr val="622322"/>
                </a:solidFill>
                <a:latin typeface="Times New Roman"/>
                <a:cs typeface="Times New Roman"/>
              </a:rPr>
              <a:t> </a:t>
            </a:r>
            <a:r>
              <a:rPr sz="1200" b="1" dirty="0">
                <a:solidFill>
                  <a:srgbClr val="622322"/>
                </a:solidFill>
                <a:latin typeface="Times New Roman"/>
                <a:cs typeface="Times New Roman"/>
              </a:rPr>
              <a:t>of</a:t>
            </a:r>
            <a:r>
              <a:rPr sz="1200" b="1" spc="-30" dirty="0">
                <a:solidFill>
                  <a:srgbClr val="622322"/>
                </a:solidFill>
                <a:latin typeface="Times New Roman"/>
                <a:cs typeface="Times New Roman"/>
              </a:rPr>
              <a:t> </a:t>
            </a:r>
            <a:r>
              <a:rPr sz="1200" b="1" dirty="0">
                <a:solidFill>
                  <a:srgbClr val="622322"/>
                </a:solidFill>
                <a:latin typeface="Times New Roman"/>
                <a:cs typeface="Times New Roman"/>
              </a:rPr>
              <a:t>Computer</a:t>
            </a:r>
            <a:r>
              <a:rPr sz="1200" b="1" spc="-35" dirty="0">
                <a:solidFill>
                  <a:srgbClr val="622322"/>
                </a:solidFill>
                <a:latin typeface="Times New Roman"/>
                <a:cs typeface="Times New Roman"/>
              </a:rPr>
              <a:t> </a:t>
            </a:r>
            <a:r>
              <a:rPr sz="1200" b="1" dirty="0">
                <a:solidFill>
                  <a:srgbClr val="622322"/>
                </a:solidFill>
                <a:latin typeface="Times New Roman"/>
                <a:cs typeface="Times New Roman"/>
              </a:rPr>
              <a:t>Science</a:t>
            </a:r>
            <a:r>
              <a:rPr sz="1200" b="1" spc="-40" dirty="0">
                <a:solidFill>
                  <a:srgbClr val="622322"/>
                </a:solidFill>
                <a:latin typeface="Times New Roman"/>
                <a:cs typeface="Times New Roman"/>
              </a:rPr>
              <a:t> </a:t>
            </a:r>
            <a:r>
              <a:rPr sz="1200" b="1" dirty="0">
                <a:solidFill>
                  <a:srgbClr val="622322"/>
                </a:solidFill>
                <a:latin typeface="Times New Roman"/>
                <a:cs typeface="Times New Roman"/>
              </a:rPr>
              <a:t>and</a:t>
            </a:r>
            <a:r>
              <a:rPr sz="1200" b="1" spc="-10" dirty="0">
                <a:solidFill>
                  <a:srgbClr val="622322"/>
                </a:solidFill>
                <a:latin typeface="Times New Roman"/>
                <a:cs typeface="Times New Roman"/>
              </a:rPr>
              <a:t> Engineering,</a:t>
            </a:r>
            <a:endParaRPr sz="1200" dirty="0">
              <a:latin typeface="Times New Roman"/>
              <a:cs typeface="Times New Roman"/>
            </a:endParaRPr>
          </a:p>
          <a:p>
            <a:pPr marR="770890" algn="ctr">
              <a:lnSpc>
                <a:spcPct val="100000"/>
              </a:lnSpc>
              <a:spcBef>
                <a:spcPts val="944"/>
              </a:spcBef>
            </a:pPr>
            <a:r>
              <a:rPr sz="1200" b="1" dirty="0">
                <a:solidFill>
                  <a:srgbClr val="622322"/>
                </a:solidFill>
                <a:latin typeface="Times New Roman"/>
                <a:cs typeface="Times New Roman"/>
              </a:rPr>
              <a:t>Sangam</a:t>
            </a:r>
            <a:r>
              <a:rPr sz="1200" b="1" spc="-45" dirty="0">
                <a:solidFill>
                  <a:srgbClr val="622322"/>
                </a:solidFill>
                <a:latin typeface="Times New Roman"/>
                <a:cs typeface="Times New Roman"/>
              </a:rPr>
              <a:t> </a:t>
            </a:r>
            <a:r>
              <a:rPr sz="1200" b="1" spc="-10" dirty="0">
                <a:solidFill>
                  <a:srgbClr val="622322"/>
                </a:solidFill>
                <a:latin typeface="Times New Roman"/>
                <a:cs typeface="Times New Roman"/>
              </a:rPr>
              <a:t>University,</a:t>
            </a:r>
            <a:endParaRPr sz="1200" dirty="0">
              <a:latin typeface="Times New Roman"/>
              <a:cs typeface="Times New Roman"/>
            </a:endParaRPr>
          </a:p>
          <a:p>
            <a:pPr marL="12065" marR="782320" algn="ctr">
              <a:lnSpc>
                <a:spcPts val="2380"/>
              </a:lnSpc>
              <a:spcBef>
                <a:spcPts val="234"/>
              </a:spcBef>
            </a:pPr>
            <a:r>
              <a:rPr sz="1200" b="1" dirty="0">
                <a:solidFill>
                  <a:srgbClr val="622322"/>
                </a:solidFill>
                <a:latin typeface="Times New Roman"/>
                <a:cs typeface="Times New Roman"/>
              </a:rPr>
              <a:t>National</a:t>
            </a:r>
            <a:r>
              <a:rPr sz="1200" b="1" spc="-10" dirty="0">
                <a:solidFill>
                  <a:srgbClr val="622322"/>
                </a:solidFill>
                <a:latin typeface="Times New Roman"/>
                <a:cs typeface="Times New Roman"/>
              </a:rPr>
              <a:t> Highway-</a:t>
            </a:r>
            <a:r>
              <a:rPr sz="1200" b="1" dirty="0">
                <a:solidFill>
                  <a:srgbClr val="622322"/>
                </a:solidFill>
                <a:latin typeface="Times New Roman"/>
                <a:cs typeface="Times New Roman"/>
              </a:rPr>
              <a:t>79,</a:t>
            </a:r>
            <a:r>
              <a:rPr sz="1200" b="1" spc="-20" dirty="0">
                <a:solidFill>
                  <a:srgbClr val="622322"/>
                </a:solidFill>
                <a:latin typeface="Times New Roman"/>
                <a:cs typeface="Times New Roman"/>
              </a:rPr>
              <a:t> </a:t>
            </a:r>
            <a:r>
              <a:rPr sz="1200" b="1" dirty="0">
                <a:solidFill>
                  <a:srgbClr val="622322"/>
                </a:solidFill>
                <a:latin typeface="Times New Roman"/>
                <a:cs typeface="Times New Roman"/>
              </a:rPr>
              <a:t>Chittor</a:t>
            </a:r>
            <a:r>
              <a:rPr sz="1200" b="1" spc="-10" dirty="0">
                <a:solidFill>
                  <a:srgbClr val="622322"/>
                </a:solidFill>
                <a:latin typeface="Times New Roman"/>
                <a:cs typeface="Times New Roman"/>
              </a:rPr>
              <a:t> </a:t>
            </a:r>
            <a:r>
              <a:rPr sz="1200" b="1" dirty="0">
                <a:solidFill>
                  <a:srgbClr val="622322"/>
                </a:solidFill>
                <a:latin typeface="Times New Roman"/>
                <a:cs typeface="Times New Roman"/>
              </a:rPr>
              <a:t>By-Pass,</a:t>
            </a:r>
            <a:r>
              <a:rPr sz="1200" b="1" spc="-10" dirty="0">
                <a:solidFill>
                  <a:srgbClr val="622322"/>
                </a:solidFill>
                <a:latin typeface="Times New Roman"/>
                <a:cs typeface="Times New Roman"/>
              </a:rPr>
              <a:t> </a:t>
            </a:r>
            <a:r>
              <a:rPr sz="1200" b="1" dirty="0">
                <a:solidFill>
                  <a:srgbClr val="622322"/>
                </a:solidFill>
                <a:latin typeface="Times New Roman"/>
                <a:cs typeface="Times New Roman"/>
              </a:rPr>
              <a:t>Atoon,</a:t>
            </a:r>
            <a:r>
              <a:rPr sz="1200" b="1" spc="5" dirty="0">
                <a:solidFill>
                  <a:srgbClr val="622322"/>
                </a:solidFill>
                <a:latin typeface="Times New Roman"/>
                <a:cs typeface="Times New Roman"/>
              </a:rPr>
              <a:t> </a:t>
            </a:r>
            <a:r>
              <a:rPr sz="1200" b="1" dirty="0">
                <a:solidFill>
                  <a:srgbClr val="622322"/>
                </a:solidFill>
                <a:latin typeface="Times New Roman"/>
                <a:cs typeface="Times New Roman"/>
              </a:rPr>
              <a:t>Bhilwara,</a:t>
            </a:r>
            <a:r>
              <a:rPr sz="1200" b="1" spc="-5" dirty="0">
                <a:solidFill>
                  <a:srgbClr val="622322"/>
                </a:solidFill>
                <a:latin typeface="Times New Roman"/>
                <a:cs typeface="Times New Roman"/>
              </a:rPr>
              <a:t> </a:t>
            </a:r>
            <a:r>
              <a:rPr sz="1200" b="1" spc="-10" dirty="0">
                <a:solidFill>
                  <a:srgbClr val="622322"/>
                </a:solidFill>
                <a:latin typeface="Times New Roman"/>
                <a:cs typeface="Times New Roman"/>
              </a:rPr>
              <a:t>Rajasthan </a:t>
            </a:r>
            <a:r>
              <a:rPr sz="1200" b="1" spc="-10" dirty="0">
                <a:solidFill>
                  <a:srgbClr val="17365D"/>
                </a:solidFill>
                <a:latin typeface="Times New Roman"/>
                <a:cs typeface="Times New Roman"/>
              </a:rPr>
              <a:t>202</a:t>
            </a:r>
            <a:r>
              <a:rPr lang="en-US" sz="1200" b="1" spc="-10" dirty="0">
                <a:solidFill>
                  <a:srgbClr val="17365D"/>
                </a:solidFill>
                <a:latin typeface="Times New Roman"/>
                <a:cs typeface="Times New Roman"/>
              </a:rPr>
              <a:t>5</a:t>
            </a:r>
            <a:r>
              <a:rPr sz="1200" b="1" spc="-10" dirty="0">
                <a:solidFill>
                  <a:srgbClr val="17365D"/>
                </a:solidFill>
                <a:latin typeface="Times New Roman"/>
                <a:cs typeface="Times New Roman"/>
              </a:rPr>
              <a:t>-</a:t>
            </a:r>
            <a:r>
              <a:rPr sz="1200" b="1" spc="-20" dirty="0">
                <a:solidFill>
                  <a:srgbClr val="17365D"/>
                </a:solidFill>
                <a:latin typeface="Times New Roman"/>
                <a:cs typeface="Times New Roman"/>
              </a:rPr>
              <a:t>202</a:t>
            </a:r>
            <a:r>
              <a:rPr lang="en-US" sz="1200" b="1" spc="-20" dirty="0">
                <a:solidFill>
                  <a:srgbClr val="17365D"/>
                </a:solidFill>
                <a:latin typeface="Times New Roman"/>
                <a:cs typeface="Times New Roman"/>
              </a:rPr>
              <a:t>6</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305"/>
              </a:spcBef>
            </a:pPr>
            <a:endParaRPr sz="1200" dirty="0">
              <a:latin typeface="Times New Roman"/>
              <a:cs typeface="Times New Roman"/>
            </a:endParaRPr>
          </a:p>
          <a:p>
            <a:pPr marR="5080" algn="r">
              <a:lnSpc>
                <a:spcPct val="100000"/>
              </a:lnSpc>
            </a:pPr>
            <a:r>
              <a:rPr sz="1400" b="1" dirty="0">
                <a:solidFill>
                  <a:srgbClr val="622322"/>
                </a:solidFill>
                <a:latin typeface="Times New Roman"/>
                <a:cs typeface="Times New Roman"/>
              </a:rPr>
              <a:t>Guided </a:t>
            </a:r>
            <a:r>
              <a:rPr sz="1400" b="1" spc="-25" dirty="0">
                <a:solidFill>
                  <a:srgbClr val="622322"/>
                </a:solidFill>
                <a:latin typeface="Times New Roman"/>
                <a:cs typeface="Times New Roman"/>
              </a:rPr>
              <a:t>by:</a:t>
            </a:r>
            <a:endParaRPr sz="1400" dirty="0">
              <a:latin typeface="Times New Roman"/>
              <a:cs typeface="Times New Roman"/>
            </a:endParaRPr>
          </a:p>
          <a:p>
            <a:pPr marR="7620" algn="r">
              <a:lnSpc>
                <a:spcPct val="100000"/>
              </a:lnSpc>
              <a:spcBef>
                <a:spcPts val="955"/>
              </a:spcBef>
            </a:pPr>
            <a:r>
              <a:rPr sz="1200" b="1" dirty="0">
                <a:solidFill>
                  <a:srgbClr val="17365D"/>
                </a:solidFill>
                <a:latin typeface="Times New Roman"/>
                <a:cs typeface="Times New Roman"/>
              </a:rPr>
              <a:t>Dr.</a:t>
            </a:r>
            <a:r>
              <a:rPr sz="1200" b="1" spc="-15" dirty="0">
                <a:solidFill>
                  <a:srgbClr val="17365D"/>
                </a:solidFill>
                <a:latin typeface="Times New Roman"/>
                <a:cs typeface="Times New Roman"/>
              </a:rPr>
              <a:t> </a:t>
            </a:r>
            <a:r>
              <a:rPr lang="en-US" sz="1200" b="1" spc="-15" dirty="0">
                <a:solidFill>
                  <a:srgbClr val="17365D"/>
                </a:solidFill>
                <a:latin typeface="Times New Roman"/>
                <a:cs typeface="Times New Roman"/>
              </a:rPr>
              <a:t>Vikas Somani</a:t>
            </a:r>
            <a:endParaRPr sz="1200" dirty="0">
              <a:latin typeface="Times New Roman"/>
              <a:cs typeface="Times New Roman"/>
            </a:endParaRPr>
          </a:p>
        </p:txBody>
      </p:sp>
      <p:pic>
        <p:nvPicPr>
          <p:cNvPr id="5" name="object 5"/>
          <p:cNvPicPr/>
          <p:nvPr/>
        </p:nvPicPr>
        <p:blipFill>
          <a:blip r:embed="rId2" cstate="print"/>
          <a:stretch>
            <a:fillRect/>
          </a:stretch>
        </p:blipFill>
        <p:spPr>
          <a:xfrm>
            <a:off x="3295650" y="1577339"/>
            <a:ext cx="1181100" cy="1104900"/>
          </a:xfrm>
          <a:prstGeom prst="rect">
            <a:avLst/>
          </a:prstGeom>
        </p:spPr>
      </p:pic>
      <p:pic>
        <p:nvPicPr>
          <p:cNvPr id="6" name="object 6"/>
          <p:cNvPicPr/>
          <p:nvPr/>
        </p:nvPicPr>
        <p:blipFill>
          <a:blip r:embed="rId3" cstate="print"/>
          <a:stretch>
            <a:fillRect/>
          </a:stretch>
        </p:blipFill>
        <p:spPr>
          <a:xfrm>
            <a:off x="2490851" y="4954523"/>
            <a:ext cx="2789554" cy="12486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95400" y="141355"/>
            <a:ext cx="5970270" cy="9775689"/>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Times New Roman"/>
                <a:cs typeface="Times New Roman"/>
              </a:rPr>
              <a:t>Abstract</a:t>
            </a:r>
            <a:endParaRPr sz="1400" dirty="0">
              <a:latin typeface="Times New Roman"/>
              <a:cs typeface="Times New Roman"/>
            </a:endParaRPr>
          </a:p>
          <a:p>
            <a:pPr marL="12700" marR="5715" algn="just">
              <a:lnSpc>
                <a:spcPct val="96000"/>
              </a:lnSpc>
              <a:spcBef>
                <a:spcPts val="1220"/>
              </a:spcBef>
            </a:pPr>
            <a:r>
              <a:rPr lang="en-US" sz="1100" dirty="0"/>
              <a:t>The </a:t>
            </a:r>
            <a:r>
              <a:rPr lang="en-US" sz="1100" b="1" dirty="0"/>
              <a:t>AI Resume Builder</a:t>
            </a:r>
            <a:r>
              <a:rPr lang="en-US" sz="1100" dirty="0"/>
              <a:t> is an intelligent system designed to simplify and enhance the resume creation process using artificial intelligence Traditional resume building is often time-consuming and requires users to understand formatting, keyword optimization, and professional writing standards. This project addresses these challenges by developing a platform that automatically generates well-structured, ATS-friendly resumes based on user-provided information. the AI Resume Builder improves resume quality, reduces effort, and increases users' chances of success in competitive job markets.</a:t>
            </a:r>
          </a:p>
          <a:p>
            <a:pPr marL="12700" marR="5715" algn="just">
              <a:lnSpc>
                <a:spcPct val="96000"/>
              </a:lnSpc>
              <a:spcBef>
                <a:spcPts val="1220"/>
              </a:spcBef>
            </a:pPr>
            <a:r>
              <a:rPr lang="en-IN" sz="1100" b="1" dirty="0"/>
              <a:t>Key Technologies Used:</a:t>
            </a:r>
            <a:r>
              <a:rPr lang="en-IN" sz="1100" dirty="0"/>
              <a:t> MERN Stack, React.js, Tailwind CSS, ImageKit, Google Gemini API, Nginx, PM2.</a:t>
            </a:r>
            <a:r>
              <a:rPr lang="en-US" sz="1100" dirty="0"/>
              <a:t> </a:t>
            </a:r>
            <a:endParaRPr sz="1100" dirty="0">
              <a:latin typeface="Times New Roman"/>
              <a:cs typeface="Times New Roman"/>
            </a:endParaRPr>
          </a:p>
          <a:p>
            <a:pPr marL="12700">
              <a:lnSpc>
                <a:spcPct val="100000"/>
              </a:lnSpc>
              <a:spcBef>
                <a:spcPts val="905"/>
              </a:spcBef>
            </a:pPr>
            <a:r>
              <a:rPr sz="1400" b="1" spc="-10" dirty="0">
                <a:latin typeface="Times New Roman"/>
                <a:cs typeface="Times New Roman"/>
              </a:rPr>
              <a:t>Introduction</a:t>
            </a:r>
            <a:endParaRPr sz="1400" dirty="0">
              <a:latin typeface="Times New Roman"/>
              <a:cs typeface="Times New Roman"/>
            </a:endParaRPr>
          </a:p>
          <a:p>
            <a:pPr marL="469265" marR="8255" indent="-228600" algn="just">
              <a:lnSpc>
                <a:spcPts val="1380"/>
              </a:lnSpc>
              <a:spcBef>
                <a:spcPts val="1019"/>
              </a:spcBef>
              <a:buFont typeface="Times New Roman"/>
              <a:buAutoNum type="arabicPeriod"/>
              <a:tabLst>
                <a:tab pos="469265" algn="l"/>
              </a:tabLst>
            </a:pPr>
            <a:r>
              <a:rPr sz="1200" b="1" dirty="0">
                <a:latin typeface="Times New Roman"/>
                <a:cs typeface="Times New Roman"/>
              </a:rPr>
              <a:t>Background</a:t>
            </a:r>
            <a:r>
              <a:rPr sz="1200" b="1" spc="445" dirty="0">
                <a:latin typeface="Times New Roman"/>
                <a:cs typeface="Times New Roman"/>
              </a:rPr>
              <a:t> </a:t>
            </a:r>
            <a:r>
              <a:rPr sz="1200" b="1" dirty="0">
                <a:latin typeface="Times New Roman"/>
                <a:cs typeface="Times New Roman"/>
              </a:rPr>
              <a:t>of</a:t>
            </a:r>
            <a:r>
              <a:rPr sz="1200" b="1" spc="455" dirty="0">
                <a:latin typeface="Times New Roman"/>
                <a:cs typeface="Times New Roman"/>
              </a:rPr>
              <a:t> </a:t>
            </a:r>
            <a:r>
              <a:rPr sz="1200" b="1" dirty="0">
                <a:latin typeface="Times New Roman"/>
                <a:cs typeface="Times New Roman"/>
              </a:rPr>
              <a:t>the</a:t>
            </a:r>
            <a:r>
              <a:rPr sz="1200" b="1" spc="445" dirty="0">
                <a:latin typeface="Times New Roman"/>
                <a:cs typeface="Times New Roman"/>
              </a:rPr>
              <a:t> </a:t>
            </a:r>
            <a:r>
              <a:rPr sz="1200" b="1" dirty="0">
                <a:latin typeface="Times New Roman"/>
                <a:cs typeface="Times New Roman"/>
              </a:rPr>
              <a:t>Problem:</a:t>
            </a:r>
            <a:r>
              <a:rPr lang="en-US" sz="1200" dirty="0"/>
              <a:t> In today’s highly competitive job market, a well-crafted resume is the most critical tool for securing employment. However, creating a professional, error-free, and effective resume remains a significant challenge for many job seekers. The traditional process of manual resume writing is often fraught with inefficiencies and obstacles:</a:t>
            </a:r>
            <a:endParaRPr sz="1200" dirty="0">
              <a:latin typeface="Times New Roman"/>
              <a:cs typeface="Times New Roman"/>
            </a:endParaRPr>
          </a:p>
          <a:p>
            <a:pPr marL="469265" marR="5080" indent="-228600" algn="just">
              <a:lnSpc>
                <a:spcPts val="1380"/>
              </a:lnSpc>
              <a:buFont typeface="Times New Roman"/>
              <a:buAutoNum type="arabicPeriod"/>
              <a:tabLst>
                <a:tab pos="469265" algn="l"/>
              </a:tabLst>
            </a:pPr>
            <a:r>
              <a:rPr sz="1200" b="1" dirty="0">
                <a:latin typeface="Times New Roman"/>
                <a:cs typeface="Times New Roman"/>
              </a:rPr>
              <a:t>Importance</a:t>
            </a:r>
            <a:r>
              <a:rPr sz="1200" b="1" spc="95" dirty="0">
                <a:latin typeface="Times New Roman"/>
                <a:cs typeface="Times New Roman"/>
              </a:rPr>
              <a:t> </a:t>
            </a:r>
            <a:r>
              <a:rPr sz="1200" b="1" dirty="0">
                <a:latin typeface="Times New Roman"/>
                <a:cs typeface="Times New Roman"/>
              </a:rPr>
              <a:t>of</a:t>
            </a:r>
            <a:r>
              <a:rPr sz="1200" b="1" spc="110" dirty="0">
                <a:latin typeface="Times New Roman"/>
                <a:cs typeface="Times New Roman"/>
              </a:rPr>
              <a:t> </a:t>
            </a:r>
            <a:r>
              <a:rPr sz="1200" b="1" dirty="0">
                <a:latin typeface="Times New Roman"/>
                <a:cs typeface="Times New Roman"/>
              </a:rPr>
              <a:t>the</a:t>
            </a:r>
            <a:r>
              <a:rPr sz="1200" b="1" spc="105" dirty="0">
                <a:latin typeface="Times New Roman"/>
                <a:cs typeface="Times New Roman"/>
              </a:rPr>
              <a:t> </a:t>
            </a:r>
            <a:r>
              <a:rPr sz="1200" b="1" dirty="0">
                <a:latin typeface="Times New Roman"/>
                <a:cs typeface="Times New Roman"/>
              </a:rPr>
              <a:t>Project:</a:t>
            </a:r>
            <a:r>
              <a:rPr lang="en-US" sz="1200" dirty="0"/>
              <a:t> The "AI Resume Builder" is a significant technological intervention designed to streamline the career advancement process for job seekers. Its importance lies in its ability to bridge the gap between a candidate's potential and their professional presentation. The key aspects of its significance include:</a:t>
            </a:r>
            <a:endParaRPr sz="1200" dirty="0">
              <a:latin typeface="Times New Roman"/>
              <a:cs typeface="Times New Roman"/>
            </a:endParaRPr>
          </a:p>
          <a:p>
            <a:pPr marL="469265" marR="7620" indent="-228600" algn="just">
              <a:lnSpc>
                <a:spcPts val="1380"/>
              </a:lnSpc>
              <a:buFont typeface="Times New Roman"/>
              <a:buAutoNum type="arabicPeriod"/>
              <a:tabLst>
                <a:tab pos="469265" algn="l"/>
              </a:tabLst>
            </a:pPr>
            <a:r>
              <a:rPr sz="1200" b="1" dirty="0">
                <a:latin typeface="Times New Roman"/>
                <a:cs typeface="Times New Roman"/>
              </a:rPr>
              <a:t>Scope</a:t>
            </a:r>
            <a:r>
              <a:rPr sz="1200" b="1" spc="180" dirty="0">
                <a:latin typeface="Times New Roman"/>
                <a:cs typeface="Times New Roman"/>
              </a:rPr>
              <a:t> </a:t>
            </a:r>
            <a:r>
              <a:rPr sz="1200" b="1" dirty="0">
                <a:latin typeface="Times New Roman"/>
                <a:cs typeface="Times New Roman"/>
              </a:rPr>
              <a:t>of</a:t>
            </a:r>
            <a:r>
              <a:rPr sz="1200" b="1" spc="195" dirty="0">
                <a:latin typeface="Times New Roman"/>
                <a:cs typeface="Times New Roman"/>
              </a:rPr>
              <a:t> </a:t>
            </a:r>
            <a:r>
              <a:rPr sz="1200" b="1" dirty="0">
                <a:latin typeface="Times New Roman"/>
                <a:cs typeface="Times New Roman"/>
              </a:rPr>
              <a:t>the</a:t>
            </a:r>
            <a:r>
              <a:rPr sz="1200" b="1" spc="195" dirty="0">
                <a:latin typeface="Times New Roman"/>
                <a:cs typeface="Times New Roman"/>
              </a:rPr>
              <a:t> </a:t>
            </a:r>
            <a:r>
              <a:rPr sz="1200" b="1" dirty="0">
                <a:latin typeface="Times New Roman"/>
                <a:cs typeface="Times New Roman"/>
              </a:rPr>
              <a:t>Project</a:t>
            </a:r>
            <a:r>
              <a:rPr lang="en-US" sz="1200" b="1" dirty="0">
                <a:latin typeface="Times New Roman"/>
                <a:cs typeface="Times New Roman"/>
              </a:rPr>
              <a:t>: </a:t>
            </a:r>
            <a:r>
              <a:rPr lang="en-US" sz="1200" dirty="0"/>
              <a:t>The scope of this project encompasses the full-stack development and deployment of a web-based </a:t>
            </a:r>
            <a:r>
              <a:rPr lang="en-US" sz="1200" b="1" dirty="0"/>
              <a:t>AI Resume Builder</a:t>
            </a:r>
            <a:r>
              <a:rPr lang="en-US" sz="1200" dirty="0"/>
              <a:t> application. It is designed to serve students, fresh graduates, and working professionals by automating the resume creation process. </a:t>
            </a:r>
            <a:endParaRPr lang="en-US" sz="1200" b="1" dirty="0">
              <a:latin typeface="Times New Roman"/>
              <a:cs typeface="Times New Roman"/>
            </a:endParaRPr>
          </a:p>
          <a:p>
            <a:pPr marL="469265" marR="7620" indent="-228600" algn="just">
              <a:lnSpc>
                <a:spcPts val="1380"/>
              </a:lnSpc>
              <a:buFont typeface="Times New Roman"/>
              <a:buAutoNum type="arabicPeriod"/>
              <a:tabLst>
                <a:tab pos="469265" algn="l"/>
              </a:tabLst>
            </a:pPr>
            <a:r>
              <a:rPr sz="1100" b="1" dirty="0">
                <a:latin typeface="Times New Roman"/>
                <a:cs typeface="Times New Roman"/>
              </a:rPr>
              <a:t>Problem</a:t>
            </a:r>
            <a:r>
              <a:rPr sz="1100" b="1" spc="-35" dirty="0">
                <a:latin typeface="Times New Roman"/>
                <a:cs typeface="Times New Roman"/>
              </a:rPr>
              <a:t> </a:t>
            </a:r>
            <a:r>
              <a:rPr sz="1100" b="1" spc="-10" dirty="0">
                <a:latin typeface="Times New Roman"/>
                <a:cs typeface="Times New Roman"/>
              </a:rPr>
              <a:t>Statement</a:t>
            </a:r>
            <a:r>
              <a:rPr lang="en-US" sz="1100" b="1" spc="-10" dirty="0">
                <a:latin typeface="Times New Roman"/>
                <a:cs typeface="Times New Roman"/>
              </a:rPr>
              <a:t>: </a:t>
            </a:r>
            <a:r>
              <a:rPr lang="en-US" sz="1100" dirty="0"/>
              <a:t>Job seekers currently face a significant discrepancy between their actual skills and their ability to present them effectively. The specific problem this project addresses is the lack of an integrated, intelligent tool that simultaneously solves formatting inconsistencies, content articulation, and ATS (Applicant Tracking System) compatibility.</a:t>
            </a:r>
            <a:endParaRPr sz="1100" dirty="0">
              <a:latin typeface="Times New Roman"/>
              <a:cs typeface="Times New Roman"/>
            </a:endParaRPr>
          </a:p>
          <a:p>
            <a:pPr marL="12700" marR="5080" algn="just">
              <a:lnSpc>
                <a:spcPct val="96300"/>
              </a:lnSpc>
              <a:spcBef>
                <a:spcPts val="965"/>
              </a:spcBef>
            </a:pPr>
            <a:r>
              <a:rPr sz="1100" spc="-10" dirty="0">
                <a:latin typeface="Times New Roman"/>
                <a:cs typeface="Times New Roman"/>
              </a:rPr>
              <a:t>.</a:t>
            </a:r>
            <a:endParaRPr sz="1100" dirty="0">
              <a:latin typeface="Times New Roman"/>
              <a:cs typeface="Times New Roman"/>
            </a:endParaRPr>
          </a:p>
          <a:p>
            <a:pPr marL="12700">
              <a:lnSpc>
                <a:spcPct val="100000"/>
              </a:lnSpc>
              <a:spcBef>
                <a:spcPts val="950"/>
              </a:spcBef>
            </a:pPr>
            <a:r>
              <a:rPr sz="1400" b="1" spc="-10" dirty="0">
                <a:latin typeface="Times New Roman"/>
                <a:cs typeface="Times New Roman"/>
              </a:rPr>
              <a:t>Objectives</a:t>
            </a:r>
            <a:endParaRPr lang="en-US" sz="1400" b="1" spc="-10" dirty="0">
              <a:latin typeface="Times New Roman"/>
              <a:cs typeface="Times New Roman"/>
            </a:endParaRPr>
          </a:p>
          <a:p>
            <a:pPr marL="12700">
              <a:lnSpc>
                <a:spcPct val="100000"/>
              </a:lnSpc>
              <a:spcBef>
                <a:spcPts val="950"/>
              </a:spcBef>
            </a:pPr>
            <a:r>
              <a:rPr lang="en-US" sz="1100" b="1" dirty="0"/>
              <a:t>To Build an Interactive Platform:</a:t>
            </a:r>
            <a:r>
              <a:rPr lang="en-US" sz="1100" dirty="0"/>
              <a:t> Create a user-friendly web application that streamlines the resume writing process with a real-time preview feature.  </a:t>
            </a:r>
          </a:p>
          <a:p>
            <a:pPr marL="12700">
              <a:lnSpc>
                <a:spcPct val="100000"/>
              </a:lnSpc>
              <a:spcBef>
                <a:spcPts val="950"/>
              </a:spcBef>
            </a:pPr>
            <a:r>
              <a:rPr lang="en-US" sz="1100" b="1" dirty="0"/>
              <a:t>To Implement AI Automation:</a:t>
            </a:r>
            <a:r>
              <a:rPr lang="en-US" sz="1100" dirty="0"/>
              <a:t> Use Artificial Intelligence to automatically enhance professional text content and optimize profile images for a polished look</a:t>
            </a:r>
            <a:r>
              <a:rPr lang="en-US" sz="1400" dirty="0"/>
              <a:t>.</a:t>
            </a:r>
            <a:endParaRPr sz="1400" dirty="0">
              <a:latin typeface="Times New Roman"/>
              <a:cs typeface="Times New Roman"/>
            </a:endParaRPr>
          </a:p>
          <a:p>
            <a:pPr marL="12700">
              <a:lnSpc>
                <a:spcPct val="100000"/>
              </a:lnSpc>
              <a:spcBef>
                <a:spcPts val="940"/>
              </a:spcBef>
            </a:pPr>
            <a:r>
              <a:rPr sz="1400" b="1" dirty="0">
                <a:latin typeface="Times New Roman"/>
                <a:cs typeface="Times New Roman"/>
              </a:rPr>
              <a:t>Literature</a:t>
            </a:r>
            <a:r>
              <a:rPr sz="1400" b="1" spc="-35" dirty="0">
                <a:latin typeface="Times New Roman"/>
                <a:cs typeface="Times New Roman"/>
              </a:rPr>
              <a:t> </a:t>
            </a:r>
            <a:r>
              <a:rPr sz="1400" b="1" spc="-10" dirty="0">
                <a:latin typeface="Times New Roman"/>
                <a:cs typeface="Times New Roman"/>
              </a:rPr>
              <a:t>Review</a:t>
            </a:r>
            <a:endParaRPr sz="1400" dirty="0">
              <a:latin typeface="Times New Roman"/>
              <a:cs typeface="Times New Roman"/>
            </a:endParaRPr>
          </a:p>
          <a:p>
            <a:pPr marL="469265" marR="8255" indent="-228600" algn="just">
              <a:lnSpc>
                <a:spcPts val="1380"/>
              </a:lnSpc>
              <a:spcBef>
                <a:spcPts val="1020"/>
              </a:spcBef>
              <a:buFont typeface="Times New Roman"/>
              <a:buAutoNum type="arabicPeriod"/>
              <a:tabLst>
                <a:tab pos="469265" algn="l"/>
              </a:tabLst>
            </a:pPr>
            <a:r>
              <a:rPr sz="1200" spc="-10" dirty="0">
                <a:latin typeface="Times New Roman"/>
                <a:cs typeface="Times New Roman"/>
              </a:rPr>
              <a:t>.</a:t>
            </a:r>
            <a:r>
              <a:rPr lang="en-US" sz="1200" b="1" dirty="0"/>
              <a:t> Analysis of Existing Resume Platforms</a:t>
            </a:r>
            <a:r>
              <a:rPr lang="en-US" sz="1200" dirty="0"/>
              <a:t> A review of popular platforms such as Canva, reveals a strong focus on visual aesthetics and template variety.</a:t>
            </a:r>
            <a:endParaRPr lang="en-US" sz="1200" dirty="0">
              <a:latin typeface="Times New Roman"/>
              <a:cs typeface="Times New Roman"/>
            </a:endParaRPr>
          </a:p>
          <a:p>
            <a:pPr marL="469265" marR="8255" indent="-228600" algn="just">
              <a:lnSpc>
                <a:spcPts val="1380"/>
              </a:lnSpc>
              <a:spcBef>
                <a:spcPts val="1020"/>
              </a:spcBef>
              <a:buFont typeface="Arial" panose="020B0604020202020204" pitchFamily="34" charset="0"/>
              <a:buChar char="•"/>
              <a:tabLst>
                <a:tab pos="469265" algn="l"/>
              </a:tabLst>
            </a:pPr>
            <a:r>
              <a:rPr lang="en-US" sz="1200" b="1" dirty="0"/>
              <a:t>Static Content:</a:t>
            </a:r>
            <a:r>
              <a:rPr lang="en-US" sz="1200" dirty="0"/>
              <a:t> Most platforms provide templates but leave the burden of writing professional content entirely on the user.</a:t>
            </a:r>
            <a:r>
              <a:rPr sz="1200" spc="-10" dirty="0">
                <a:latin typeface="Times New Roman"/>
                <a:cs typeface="Times New Roman"/>
              </a:rPr>
              <a:t>.</a:t>
            </a:r>
            <a:endParaRPr lang="en-US" sz="1200" spc="-10" dirty="0">
              <a:latin typeface="Times New Roman"/>
              <a:cs typeface="Times New Roman"/>
            </a:endParaRPr>
          </a:p>
          <a:p>
            <a:pPr marL="469265" marR="8255" indent="-228600" algn="just">
              <a:lnSpc>
                <a:spcPts val="1380"/>
              </a:lnSpc>
              <a:spcBef>
                <a:spcPts val="1020"/>
              </a:spcBef>
              <a:buFont typeface="Arial" panose="020B0604020202020204" pitchFamily="34" charset="0"/>
              <a:buChar char="•"/>
              <a:tabLst>
                <a:tab pos="469265" algn="l"/>
              </a:tabLst>
            </a:pPr>
            <a:r>
              <a:rPr lang="en-US" sz="1200" b="1" dirty="0"/>
              <a:t>Lack of AI Integration:</a:t>
            </a:r>
            <a:r>
              <a:rPr lang="en-US" sz="1200" dirty="0"/>
              <a:t> While some tools offer basic spell-checking, few integrate advanced Large Language Models (LLMs) to actively rewrite or enhance user content for better impact.</a:t>
            </a:r>
            <a:endParaRPr sz="12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6265" y="304800"/>
            <a:ext cx="6579870" cy="9900146"/>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Times New Roman"/>
                <a:cs typeface="Times New Roman"/>
              </a:rPr>
              <a:t>Methodology</a:t>
            </a:r>
            <a:endParaRPr sz="1400" dirty="0">
              <a:latin typeface="Times New Roman"/>
              <a:cs typeface="Times New Roman"/>
            </a:endParaRPr>
          </a:p>
          <a:p>
            <a:pPr marL="12700">
              <a:lnSpc>
                <a:spcPct val="100000"/>
              </a:lnSpc>
              <a:spcBef>
                <a:spcPts val="944"/>
              </a:spcBef>
            </a:pPr>
            <a:r>
              <a:rPr sz="1200" b="1" dirty="0">
                <a:latin typeface="Times New Roman"/>
                <a:cs typeface="Times New Roman"/>
              </a:rPr>
              <a:t>Detailed</a:t>
            </a:r>
            <a:r>
              <a:rPr sz="1200" b="1" spc="-55" dirty="0">
                <a:latin typeface="Times New Roman"/>
                <a:cs typeface="Times New Roman"/>
              </a:rPr>
              <a:t> </a:t>
            </a:r>
            <a:r>
              <a:rPr sz="1200" b="1" spc="-10" dirty="0">
                <a:latin typeface="Times New Roman"/>
                <a:cs typeface="Times New Roman"/>
              </a:rPr>
              <a:t>Explanation:</a:t>
            </a:r>
            <a:endParaRPr lang="en-US" sz="1200" b="1" spc="-10" dirty="0">
              <a:latin typeface="Times New Roman"/>
              <a:cs typeface="Times New Roman"/>
            </a:endParaRPr>
          </a:p>
          <a:p>
            <a:pPr marL="241300" indent="-228600">
              <a:lnSpc>
                <a:spcPct val="100000"/>
              </a:lnSpc>
              <a:spcBef>
                <a:spcPts val="944"/>
              </a:spcBef>
              <a:buAutoNum type="arabicPeriod"/>
            </a:pPr>
            <a:r>
              <a:rPr lang="en-US" sz="1050" b="1" dirty="0"/>
              <a:t>System Architecture Design (MERN Stack)</a:t>
            </a:r>
            <a:r>
              <a:rPr lang="en-US" sz="1050" dirty="0"/>
              <a:t> The application utilizes a </a:t>
            </a:r>
            <a:r>
              <a:rPr lang="en-US" sz="1050" b="1" dirty="0"/>
              <a:t>Three-Tier Architecture</a:t>
            </a:r>
          </a:p>
          <a:p>
            <a:pPr marL="241300" indent="-228600">
              <a:lnSpc>
                <a:spcPct val="100000"/>
              </a:lnSpc>
              <a:spcBef>
                <a:spcPts val="944"/>
              </a:spcBef>
              <a:buFont typeface="Arial" panose="020B0604020202020204" pitchFamily="34" charset="0"/>
              <a:buChar char="•"/>
            </a:pPr>
            <a:r>
              <a:rPr lang="en-US" sz="1050" b="1" dirty="0"/>
              <a:t>Presentation Layer (Frontend):</a:t>
            </a:r>
            <a:r>
              <a:rPr lang="en-US" sz="1050" dirty="0"/>
              <a:t> Built using </a:t>
            </a:r>
            <a:r>
              <a:rPr lang="en-US" sz="1050" b="1" dirty="0"/>
              <a:t>React.js</a:t>
            </a:r>
            <a:r>
              <a:rPr lang="en-US" sz="1050" dirty="0"/>
              <a:t> and </a:t>
            </a:r>
            <a:r>
              <a:rPr lang="en-US" sz="1050" b="1" dirty="0"/>
              <a:t>Tailwind CSS</a:t>
            </a:r>
            <a:r>
              <a:rPr lang="en-US" sz="1050" dirty="0"/>
              <a:t>. This layer handles the user interface, capturing user inputs, and rendering the real-time resume preview. It communicates with the backend via RESTful APIs</a:t>
            </a:r>
          </a:p>
          <a:p>
            <a:pPr marL="241300" indent="-228600">
              <a:lnSpc>
                <a:spcPct val="100000"/>
              </a:lnSpc>
              <a:spcBef>
                <a:spcPts val="944"/>
              </a:spcBef>
              <a:buFont typeface="Arial" panose="020B0604020202020204" pitchFamily="34" charset="0"/>
              <a:buChar char="•"/>
            </a:pPr>
            <a:r>
              <a:rPr lang="en-US" sz="1050" b="1" dirty="0"/>
              <a:t>Application Layer (Backend):</a:t>
            </a:r>
            <a:r>
              <a:rPr lang="en-US" sz="1050" dirty="0"/>
              <a:t> Developed using </a:t>
            </a:r>
            <a:r>
              <a:rPr lang="en-US" sz="1050" b="1" dirty="0"/>
              <a:t>Node.js</a:t>
            </a:r>
            <a:r>
              <a:rPr lang="en-US" sz="1050" dirty="0"/>
              <a:t> and </a:t>
            </a:r>
            <a:r>
              <a:rPr lang="en-US" sz="1050" b="1" dirty="0"/>
              <a:t>Express.js</a:t>
            </a:r>
            <a:r>
              <a:rPr lang="en-US" sz="1050" dirty="0"/>
              <a:t>. This layer contains the business logic, handles authentication (JWT), processes API requests, and acts as a secure bridge to external AI services (Google Gemini).</a:t>
            </a:r>
          </a:p>
          <a:p>
            <a:pPr marL="184150" indent="-171450">
              <a:lnSpc>
                <a:spcPct val="100000"/>
              </a:lnSpc>
              <a:spcBef>
                <a:spcPts val="944"/>
              </a:spcBef>
              <a:buFont typeface="Arial" panose="020B0604020202020204" pitchFamily="34" charset="0"/>
              <a:buChar char="•"/>
            </a:pPr>
            <a:r>
              <a:rPr lang="en-US" sz="1050" b="1" dirty="0"/>
              <a:t>Data Layer (Database):</a:t>
            </a:r>
            <a:r>
              <a:rPr lang="en-US" sz="1050" dirty="0"/>
              <a:t> </a:t>
            </a:r>
            <a:r>
              <a:rPr lang="en-US" sz="1050" b="1" dirty="0"/>
              <a:t>MongoDB</a:t>
            </a:r>
            <a:r>
              <a:rPr lang="en-US" sz="1050" dirty="0"/>
              <a:t> is used as the NoSQL database to store user profiles and resume data in JSON-like documents, allowing for flexible schema structures.</a:t>
            </a:r>
          </a:p>
          <a:p>
            <a:pPr marL="241300" indent="-228600">
              <a:lnSpc>
                <a:spcPct val="100000"/>
              </a:lnSpc>
              <a:spcBef>
                <a:spcPts val="944"/>
              </a:spcBef>
              <a:buAutoNum type="arabicPeriod" startAt="2"/>
            </a:pPr>
            <a:r>
              <a:rPr lang="it-IT" sz="1050" dirty="0"/>
              <a:t>AI &amp; External Service Integration Strategy</a:t>
            </a:r>
          </a:p>
          <a:p>
            <a:pPr marL="241300" indent="-228600">
              <a:lnSpc>
                <a:spcPct val="100000"/>
              </a:lnSpc>
              <a:spcBef>
                <a:spcPts val="944"/>
              </a:spcBef>
              <a:buFont typeface="Arial" panose="020B0604020202020204" pitchFamily="34" charset="0"/>
              <a:buChar char="•"/>
            </a:pPr>
            <a:r>
              <a:rPr lang="en-US" sz="1050" b="1" dirty="0"/>
              <a:t>Generative AI (Google Gemini):</a:t>
            </a:r>
            <a:r>
              <a:rPr lang="en-US" sz="1050" dirty="0"/>
              <a:t> To avoid exposing API keys on the client side, the AI interaction is handled backend-first. When a user requests a summary, the frontend sends the prompt to the Express server. The server then authenticates with Google Gemini, retrieves the generated text, and sends it back to the user.</a:t>
            </a:r>
          </a:p>
          <a:p>
            <a:pPr marL="241300" indent="-228600">
              <a:lnSpc>
                <a:spcPct val="100000"/>
              </a:lnSpc>
              <a:spcBef>
                <a:spcPts val="944"/>
              </a:spcBef>
              <a:buFont typeface="Arial" panose="020B0604020202020204" pitchFamily="34" charset="0"/>
              <a:buChar char="•"/>
            </a:pPr>
            <a:r>
              <a:rPr lang="en-US" sz="1050" b="1" dirty="0"/>
              <a:t>Image Processing (ImageKit):</a:t>
            </a:r>
            <a:r>
              <a:rPr lang="en-US" sz="1050" dirty="0"/>
              <a:t> For profile pictures, the system uses a cloud-based methodology. Images are uploaded via the browser to the server, which then offloads them to </a:t>
            </a:r>
            <a:r>
              <a:rPr lang="en-US" sz="1050" b="1" dirty="0"/>
              <a:t>ImageKit</a:t>
            </a:r>
            <a:r>
              <a:rPr lang="en-US" sz="1050" dirty="0"/>
              <a:t>. ImageKit processes the image (background removal/face focus) and returns a URL, which is stored in the database</a:t>
            </a:r>
          </a:p>
          <a:p>
            <a:pPr marL="12700">
              <a:lnSpc>
                <a:spcPct val="100000"/>
              </a:lnSpc>
              <a:spcBef>
                <a:spcPts val="944"/>
              </a:spcBef>
            </a:pPr>
            <a:r>
              <a:rPr lang="en-IN" sz="1050" dirty="0"/>
              <a:t>3.  Development Workflow</a:t>
            </a:r>
          </a:p>
          <a:p>
            <a:pPr marL="241300" indent="-228600">
              <a:lnSpc>
                <a:spcPct val="100000"/>
              </a:lnSpc>
              <a:spcBef>
                <a:spcPts val="944"/>
              </a:spcBef>
              <a:buFont typeface="Arial" panose="020B0604020202020204" pitchFamily="34" charset="0"/>
              <a:buChar char="•"/>
            </a:pPr>
            <a:r>
              <a:rPr lang="en-US" sz="1050" b="1" dirty="0"/>
              <a:t>Component-Based Development:</a:t>
            </a:r>
            <a:r>
              <a:rPr lang="en-US" sz="1050" dirty="0"/>
              <a:t> The UI was broken down into reusable components (e.g., ResumeForm, PreviewSection, Navbar). This ensured code modularity and easier debugging.</a:t>
            </a:r>
          </a:p>
          <a:p>
            <a:pPr marL="241300" indent="-228600">
              <a:lnSpc>
                <a:spcPct val="100000"/>
              </a:lnSpc>
              <a:spcBef>
                <a:spcPts val="944"/>
              </a:spcBef>
              <a:buFont typeface="Arial" panose="020B0604020202020204" pitchFamily="34" charset="0"/>
              <a:buChar char="•"/>
            </a:pPr>
            <a:r>
              <a:rPr lang="en-US" sz="1050" b="1" dirty="0"/>
              <a:t>State Management:</a:t>
            </a:r>
            <a:r>
              <a:rPr lang="en-US" sz="1050" dirty="0"/>
              <a:t> React useState and useEffect hooks were utilized to manage the "Live Preview" functionality. As users type in the form, the state updates instantly, reflecting changes on the resume template without reloading the page.</a:t>
            </a:r>
          </a:p>
          <a:p>
            <a:pPr marL="469265" marR="8890" indent="-228600">
              <a:lnSpc>
                <a:spcPts val="1380"/>
              </a:lnSpc>
              <a:buFont typeface="Arial" panose="020B0604020202020204" pitchFamily="34" charset="0"/>
              <a:buChar char="•"/>
              <a:tabLst>
                <a:tab pos="469265" algn="l"/>
              </a:tabLst>
            </a:pPr>
            <a:endParaRPr lang="en-US" sz="1200" b="1" dirty="0">
              <a:latin typeface="Times New Roman"/>
              <a:cs typeface="Times New Roman"/>
            </a:endParaRPr>
          </a:p>
          <a:p>
            <a:pPr marL="12700" marR="6350">
              <a:lnSpc>
                <a:spcPts val="1390"/>
              </a:lnSpc>
              <a:spcBef>
                <a:spcPts val="1010"/>
              </a:spcBef>
            </a:pPr>
            <a:r>
              <a:rPr sz="1200" b="1" dirty="0">
                <a:latin typeface="Times New Roman"/>
                <a:cs typeface="Times New Roman"/>
              </a:rPr>
              <a:t>Tools,</a:t>
            </a:r>
            <a:r>
              <a:rPr sz="1200" b="1" spc="-5" dirty="0">
                <a:latin typeface="Times New Roman"/>
                <a:cs typeface="Times New Roman"/>
              </a:rPr>
              <a:t> </a:t>
            </a:r>
            <a:r>
              <a:rPr sz="1200" b="1" dirty="0">
                <a:latin typeface="Times New Roman"/>
                <a:cs typeface="Times New Roman"/>
              </a:rPr>
              <a:t>Tec</a:t>
            </a:r>
            <a:r>
              <a:rPr lang="en-US" sz="1200" b="1" dirty="0">
                <a:latin typeface="Times New Roman"/>
                <a:cs typeface="Times New Roman"/>
              </a:rPr>
              <a:t>h</a:t>
            </a:r>
            <a:r>
              <a:rPr sz="1200" b="1" dirty="0">
                <a:latin typeface="Times New Roman"/>
                <a:cs typeface="Times New Roman"/>
              </a:rPr>
              <a:t>nologies,</a:t>
            </a:r>
            <a:r>
              <a:rPr sz="1200" b="1" spc="-10" dirty="0">
                <a:latin typeface="Times New Roman"/>
                <a:cs typeface="Times New Roman"/>
              </a:rPr>
              <a:t> </a:t>
            </a:r>
            <a:r>
              <a:rPr sz="1200" b="1" dirty="0">
                <a:latin typeface="Times New Roman"/>
                <a:cs typeface="Times New Roman"/>
              </a:rPr>
              <a:t>and</a:t>
            </a:r>
            <a:r>
              <a:rPr sz="1200" b="1" spc="-5" dirty="0">
                <a:latin typeface="Times New Roman"/>
                <a:cs typeface="Times New Roman"/>
              </a:rPr>
              <a:t> </a:t>
            </a:r>
            <a:r>
              <a:rPr sz="1200" b="1" dirty="0">
                <a:latin typeface="Times New Roman"/>
                <a:cs typeface="Times New Roman"/>
              </a:rPr>
              <a:t>Resources:</a:t>
            </a:r>
            <a:r>
              <a:rPr sz="1200" b="1" spc="5" dirty="0">
                <a:latin typeface="Times New Roman"/>
                <a:cs typeface="Times New Roman"/>
              </a:rPr>
              <a:t> </a:t>
            </a:r>
            <a:r>
              <a:rPr lang="en-IN" sz="1050" dirty="0"/>
              <a:t>. 1.Frontend Technologies (Client-Side) React.js: Tailwind </a:t>
            </a:r>
            <a:r>
              <a:rPr lang="en-IN" sz="1000" dirty="0"/>
              <a:t>CSS </a:t>
            </a:r>
            <a:r>
              <a:rPr lang="en-IN" sz="1050" dirty="0"/>
              <a:t>Vite</a:t>
            </a:r>
            <a:br>
              <a:rPr lang="en-IN" sz="1050" dirty="0"/>
            </a:br>
            <a:r>
              <a:rPr lang="en-IN" sz="1050" dirty="0"/>
              <a:t>2. Backend Technologies (Server-Side) Node.js</a:t>
            </a:r>
            <a:br>
              <a:rPr lang="en-IN" sz="1050" dirty="0"/>
            </a:br>
            <a:r>
              <a:rPr lang="en-IN" sz="1050" dirty="0"/>
              <a:t>3. Database Managemen:t MongoDB </a:t>
            </a:r>
            <a:br>
              <a:rPr lang="en-IN" sz="1050" dirty="0"/>
            </a:br>
            <a:r>
              <a:rPr lang="en-IN" sz="1050" dirty="0"/>
              <a:t>4.</a:t>
            </a:r>
            <a:r>
              <a:rPr lang="en-US" sz="1050" dirty="0"/>
              <a:t> AI and Cloud Services (APIs): </a:t>
            </a:r>
            <a:r>
              <a:rPr lang="en-IN" sz="1050" dirty="0"/>
              <a:t>Google Gemini API:</a:t>
            </a:r>
            <a:r>
              <a:rPr lang="en-IN" sz="1050" b="1" dirty="0"/>
              <a:t> ImageKit:</a:t>
            </a:r>
            <a:r>
              <a:rPr lang="en-IN" sz="1050" dirty="0"/>
              <a:t> </a:t>
            </a:r>
            <a:br>
              <a:rPr lang="en-IN" sz="1050" dirty="0"/>
            </a:br>
            <a:r>
              <a:rPr lang="en-IN" sz="1050" dirty="0"/>
              <a:t>5.</a:t>
            </a:r>
            <a:r>
              <a:rPr lang="en-IN" sz="1050" b="1" dirty="0"/>
              <a:t> Deployment and DevOps :</a:t>
            </a:r>
            <a:r>
              <a:rPr lang="nb-NO" sz="1050" dirty="0"/>
              <a:t> Hostinger VPS (Virtual Private Server):</a:t>
            </a:r>
            <a:r>
              <a:rPr lang="en-IN" sz="1050" dirty="0"/>
              <a:t> Nginx PM2:</a:t>
            </a:r>
            <a:br>
              <a:rPr lang="en-IN" sz="1050" dirty="0"/>
            </a:br>
            <a:r>
              <a:rPr lang="en-IN" sz="1050" dirty="0"/>
              <a:t>6. Development Tools: </a:t>
            </a:r>
            <a:r>
              <a:rPr lang="en-IN" sz="1050" b="1" dirty="0"/>
              <a:t>VS Code (Visual Studio Code):</a:t>
            </a:r>
            <a:r>
              <a:rPr lang="en-IN" sz="1050" dirty="0"/>
              <a:t> Postman: Git &amp; GitHub:</a:t>
            </a:r>
            <a:br>
              <a:rPr lang="en-IN" sz="1050" dirty="0"/>
            </a:br>
            <a:br>
              <a:rPr lang="en-US" sz="1050" b="1" spc="5" dirty="0">
                <a:latin typeface="Times New Roman"/>
                <a:cs typeface="Times New Roman"/>
              </a:rPr>
            </a:br>
            <a:r>
              <a:rPr sz="1200" b="1" dirty="0">
                <a:latin typeface="Times New Roman"/>
                <a:cs typeface="Times New Roman"/>
              </a:rPr>
              <a:t>Workflow</a:t>
            </a:r>
            <a:r>
              <a:rPr sz="1200" b="1" spc="290" dirty="0">
                <a:latin typeface="Times New Roman"/>
                <a:cs typeface="Times New Roman"/>
              </a:rPr>
              <a:t> </a:t>
            </a:r>
            <a:r>
              <a:rPr sz="1200" b="1" dirty="0">
                <a:latin typeface="Times New Roman"/>
                <a:cs typeface="Times New Roman"/>
              </a:rPr>
              <a:t>or</a:t>
            </a:r>
            <a:r>
              <a:rPr sz="1200" b="1" spc="275" dirty="0">
                <a:latin typeface="Times New Roman"/>
                <a:cs typeface="Times New Roman"/>
              </a:rPr>
              <a:t> </a:t>
            </a:r>
            <a:r>
              <a:rPr sz="1200" b="1" dirty="0">
                <a:latin typeface="Times New Roman"/>
                <a:cs typeface="Times New Roman"/>
              </a:rPr>
              <a:t>Project</a:t>
            </a:r>
            <a:r>
              <a:rPr sz="1200" b="1" spc="280" dirty="0">
                <a:latin typeface="Times New Roman"/>
                <a:cs typeface="Times New Roman"/>
              </a:rPr>
              <a:t> </a:t>
            </a:r>
            <a:r>
              <a:rPr sz="1200" b="1" dirty="0">
                <a:latin typeface="Times New Roman"/>
                <a:cs typeface="Times New Roman"/>
              </a:rPr>
              <a:t>Plan</a:t>
            </a:r>
            <a:r>
              <a:rPr sz="1050" b="1" dirty="0">
                <a:latin typeface="Times New Roman"/>
                <a:cs typeface="Times New Roman"/>
              </a:rPr>
              <a:t>:</a:t>
            </a:r>
            <a:r>
              <a:rPr lang="en-US" sz="1050" dirty="0"/>
              <a:t> he development of the AI Resume Builder followed a structured Software Development Life Cycle (SDLC), divided into six distinct phases to ensure organized execution and timely delivery.</a:t>
            </a:r>
          </a:p>
          <a:p>
            <a:pPr marL="12700" marR="6350">
              <a:lnSpc>
                <a:spcPts val="1390"/>
              </a:lnSpc>
              <a:spcBef>
                <a:spcPts val="1010"/>
              </a:spcBef>
            </a:pPr>
            <a:br>
              <a:rPr lang="en-US" sz="1050" dirty="0">
                <a:latin typeface="Times New Roman"/>
                <a:cs typeface="Times New Roman"/>
              </a:rPr>
            </a:br>
            <a:r>
              <a:rPr sz="1400" b="1" dirty="0">
                <a:latin typeface="Times New Roman"/>
                <a:cs typeface="Times New Roman"/>
              </a:rPr>
              <a:t>Implementation</a:t>
            </a:r>
            <a:r>
              <a:rPr sz="1400" b="1" spc="-55" dirty="0">
                <a:latin typeface="Times New Roman"/>
                <a:cs typeface="Times New Roman"/>
              </a:rPr>
              <a:t> </a:t>
            </a:r>
            <a:r>
              <a:rPr sz="1400" b="1" spc="-20" dirty="0">
                <a:latin typeface="Times New Roman"/>
                <a:cs typeface="Times New Roman"/>
              </a:rPr>
              <a:t>Plan</a:t>
            </a:r>
            <a:r>
              <a:rPr lang="en-US" sz="1400" b="1" spc="-20" dirty="0">
                <a:latin typeface="Times New Roman"/>
                <a:cs typeface="Times New Roman"/>
              </a:rPr>
              <a:t> </a:t>
            </a:r>
            <a:br>
              <a:rPr lang="en-US" sz="1400" b="1" spc="-20" dirty="0">
                <a:latin typeface="Times New Roman"/>
                <a:cs typeface="Times New Roman"/>
              </a:rPr>
            </a:br>
            <a:r>
              <a:rPr lang="en-US" sz="1400" b="1" spc="-20" dirty="0">
                <a:latin typeface="Times New Roman"/>
                <a:cs typeface="Times New Roman"/>
              </a:rPr>
              <a:t>1.</a:t>
            </a:r>
            <a:r>
              <a:rPr lang="en-IN" sz="1100" dirty="0"/>
              <a:t>Backend &amp; Database Setup:</a:t>
            </a:r>
            <a:br>
              <a:rPr lang="en-IN" sz="1100" dirty="0"/>
            </a:br>
            <a:r>
              <a:rPr lang="en-IN" sz="1100" dirty="0"/>
              <a:t>2.AI Service Integration:ImageKit</a:t>
            </a:r>
            <a:br>
              <a:rPr lang="en-IN" sz="1100" dirty="0"/>
            </a:br>
            <a:r>
              <a:rPr lang="en-IN" sz="1100" dirty="0"/>
              <a:t>3.Frontend Development</a:t>
            </a:r>
            <a:br>
              <a:rPr lang="en-IN" sz="1100" dirty="0"/>
            </a:br>
            <a:r>
              <a:rPr lang="en-IN" sz="1100" dirty="0"/>
              <a:t>4.Deployment</a:t>
            </a:r>
            <a:endParaRPr sz="1100" dirty="0">
              <a:latin typeface="Times New Roman"/>
              <a:cs typeface="Times New Roman"/>
            </a:endParaRPr>
          </a:p>
          <a:p>
            <a:pPr marL="298450" indent="-285750">
              <a:lnSpc>
                <a:spcPct val="100000"/>
              </a:lnSpc>
              <a:spcBef>
                <a:spcPts val="915"/>
              </a:spcBef>
              <a:buFont typeface="Arial" panose="020B0604020202020204" pitchFamily="34" charset="0"/>
              <a:buChar char="•"/>
            </a:pPr>
            <a:r>
              <a:rPr sz="1400" b="1" dirty="0">
                <a:latin typeface="Times New Roman"/>
                <a:cs typeface="Times New Roman"/>
              </a:rPr>
              <a:t>Expected</a:t>
            </a:r>
            <a:r>
              <a:rPr sz="1400" b="1" spc="-15" dirty="0">
                <a:latin typeface="Times New Roman"/>
                <a:cs typeface="Times New Roman"/>
              </a:rPr>
              <a:t> </a:t>
            </a:r>
            <a:r>
              <a:rPr sz="1400" b="1" spc="-10" dirty="0">
                <a:latin typeface="Times New Roman"/>
                <a:cs typeface="Times New Roman"/>
              </a:rPr>
              <a:t>Outcomes</a:t>
            </a:r>
            <a:r>
              <a:rPr lang="en-US" sz="1400" b="1" dirty="0">
                <a:latin typeface="Times New Roman"/>
                <a:cs typeface="Times New Roman"/>
              </a:rPr>
              <a:t> </a:t>
            </a:r>
            <a:br>
              <a:rPr lang="en-US" sz="1400" b="1" dirty="0">
                <a:latin typeface="Times New Roman"/>
                <a:cs typeface="Times New Roman"/>
              </a:rPr>
            </a:br>
            <a:r>
              <a:rPr lang="en-US" sz="1400" b="1" dirty="0">
                <a:latin typeface="Times New Roman"/>
                <a:cs typeface="Times New Roman"/>
              </a:rPr>
              <a:t> </a:t>
            </a:r>
            <a:r>
              <a:rPr sz="1200" spc="-10" dirty="0">
                <a:latin typeface="Times New Roman"/>
                <a:cs typeface="Times New Roman"/>
              </a:rPr>
              <a:t>.</a:t>
            </a:r>
            <a:r>
              <a:rPr lang="en-US" sz="1200" b="1" dirty="0"/>
              <a:t> </a:t>
            </a:r>
            <a:r>
              <a:rPr lang="en-US" sz="900" b="1" dirty="0"/>
              <a:t>Functional Web Platform:</a:t>
            </a:r>
            <a:r>
              <a:rPr lang="en-US" sz="900" dirty="0"/>
              <a:t> A fully deployed, responsive application allowing users to build resumes with an instant real-t</a:t>
            </a:r>
            <a:br>
              <a:rPr lang="en-US" sz="1200" dirty="0"/>
            </a:br>
            <a:r>
              <a:rPr lang="en-US" sz="1200" dirty="0"/>
              <a:t>.</a:t>
            </a:r>
            <a:r>
              <a:rPr lang="en-US" sz="800" b="1" dirty="0"/>
              <a:t>AI-Powered Automation:</a:t>
            </a:r>
            <a:r>
              <a:rPr lang="en-US" sz="800" dirty="0"/>
              <a:t> Successful integration of AI tools to automatically write professional text content and optimize user profile images</a:t>
            </a:r>
            <a:r>
              <a:rPr lang="en-US" sz="1200" dirty="0"/>
              <a:t>.</a:t>
            </a:r>
            <a:br>
              <a:rPr lang="en-US" sz="1200" dirty="0"/>
            </a:br>
            <a:r>
              <a:rPr lang="en-IN" sz="900" dirty="0"/>
              <a:t>Professional Download :</a:t>
            </a:r>
            <a:r>
              <a:rPr lang="en-US" sz="900" dirty="0"/>
              <a:t>The ability to generate and download high-quality, ATS-friendly PDF resumes ready for job </a:t>
            </a:r>
            <a:r>
              <a:rPr lang="en-US" sz="900" dirty="0" err="1"/>
              <a:t>applicon</a:t>
            </a:r>
            <a:endParaRPr sz="900" dirty="0">
              <a:latin typeface="Times New Roman"/>
              <a:cs typeface="Times New Roman"/>
            </a:endParaRPr>
          </a:p>
        </p:txBody>
      </p:sp>
      <p:sp>
        <p:nvSpPr>
          <p:cNvPr id="3" name="Rectangle 1">
            <a:extLst>
              <a:ext uri="{FF2B5EF4-FFF2-40B4-BE49-F238E27FC236}">
                <a16:creationId xmlns:a16="http://schemas.microsoft.com/office/drawing/2014/main" id="{70950622-54C1-586A-F191-C7F1B521277A}"/>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5" name="Rectangle 3">
            <a:extLst>
              <a:ext uri="{FF2B5EF4-FFF2-40B4-BE49-F238E27FC236}">
                <a16:creationId xmlns:a16="http://schemas.microsoft.com/office/drawing/2014/main" id="{3E68C811-1139-CAE2-F660-CB23217AFE5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898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131</TotalTime>
  <Words>1076</Words>
  <Application>Microsoft Office PowerPoint</Application>
  <PresentationFormat>Custom</PresentationFormat>
  <Paragraphs>53</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Times New Roman</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shree</dc:creator>
  <cp:lastModifiedBy>HP LAPTOP</cp:lastModifiedBy>
  <cp:revision>1</cp:revision>
  <dcterms:created xsi:type="dcterms:W3CDTF">2025-11-19T15:41:17Z</dcterms:created>
  <dcterms:modified xsi:type="dcterms:W3CDTF">2025-11-19T17:53:34Z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2024-08-19T00:00:00Z</vt:filetime>
  </property>
  <property fmtid="{D5CDD505-2E9C-101B-9397-08002B2CF9AE}" pid="3" name="Creator">
    <vt:lpwstr>Microsoft® Word 2010</vt:lpwstr>
  </property>
  <property fmtid="{D5CDD505-2E9C-101B-9397-08002B2CF9AE}" pid="4" name="LastSaved">
    <vt:filetime>2025-11-19T00:00:00Z</vt:filetime>
  </property>
  <property fmtid="{D5CDD505-2E9C-101B-9397-08002B2CF9AE}" pid="5" name="Producer">
    <vt:lpwstr>Microsoft® Word 2010</vt:lpwstr>
  </property>
</Properties>
</file>